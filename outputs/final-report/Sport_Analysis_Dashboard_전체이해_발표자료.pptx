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>
              <a:alpha val="7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355080"/>
            <a:ext cx="10881360" cy="0"/>
          </a:xfrm>
          <a:prstGeom prst="line">
            <a:avLst/>
          </a:prstGeom>
          <a:noFill/>
          <a:ln w="10160">
            <a:solidFill>
              <a:srgbClr val="334155">
                <a:alpha val="62000"/>
              </a:srgbClr>
            </a:solidFill>
            <a:prstDash val="solid"/>
          </a:ln>
        </p:spPr>
      </p:sp>
      <p:pic>
        <p:nvPicPr>
          <p:cNvPr id="5" name="Image 0" descr="C:\Users\kiwis\Documents\New project\web-Development2-group-project-\frontend\src\assets\hero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7589520" y="320040"/>
            <a:ext cx="4160520" cy="5989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89520" y="320040"/>
            <a:ext cx="4160520" cy="5989320"/>
          </a:xfrm>
          <a:prstGeom prst="rect">
            <a:avLst/>
          </a:prstGeom>
          <a:solidFill>
            <a:srgbClr val="060A16">
              <a:alpha val="5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731520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F43F5E"/>
          </a:solidFill>
          <a:ln w="12700">
            <a:solidFill>
              <a:srgbClr val="F43F5E">
                <a:alpha val="7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80010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BRIEFING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685800" y="13258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Sport Analysis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Dashboard</a:t>
            </a:r>
            <a:endParaRPr lang="en-US" sz="3900" dirty="0"/>
          </a:p>
        </p:txBody>
      </p:sp>
      <p:sp>
        <p:nvSpPr>
          <p:cNvPr id="10" name="Text 7"/>
          <p:cNvSpPr/>
          <p:nvPr/>
        </p:nvSpPr>
        <p:spPr>
          <a:xfrm>
            <a:off x="749808" y="30175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구조, API, DB 저장 방식, 화면 작동 원리까지 설명하는 발표자료</a:t>
            </a:r>
            <a:endParaRPr lang="en-US" sz="1280" dirty="0"/>
          </a:p>
        </p:txBody>
      </p:sp>
      <p:sp>
        <p:nvSpPr>
          <p:cNvPr id="11" name="Shape 8"/>
          <p:cNvSpPr/>
          <p:nvPr/>
        </p:nvSpPr>
        <p:spPr>
          <a:xfrm>
            <a:off x="749808" y="397764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18233F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41330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914400" y="457200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770" dirty="0"/>
          </a:p>
        </p:txBody>
      </p:sp>
      <p:sp>
        <p:nvSpPr>
          <p:cNvPr id="14" name="Shape 11"/>
          <p:cNvSpPr/>
          <p:nvPr/>
        </p:nvSpPr>
        <p:spPr>
          <a:xfrm>
            <a:off x="2971800" y="397764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18233F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36392" y="41330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22C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3136392" y="457200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770" dirty="0"/>
          </a:p>
        </p:txBody>
      </p:sp>
      <p:sp>
        <p:nvSpPr>
          <p:cNvPr id="17" name="Shape 14"/>
          <p:cNvSpPr/>
          <p:nvPr/>
        </p:nvSpPr>
        <p:spPr>
          <a:xfrm>
            <a:off x="5193792" y="397764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18233F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58384" y="41330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5358384" y="457200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770" dirty="0"/>
          </a:p>
        </p:txBody>
      </p:sp>
      <p:sp>
        <p:nvSpPr>
          <p:cNvPr id="20" name="Text 17"/>
          <p:cNvSpPr/>
          <p:nvPr/>
        </p:nvSpPr>
        <p:spPr>
          <a:xfrm>
            <a:off x="594360" y="645566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Sport Analysis Dashboard | 프로젝트 전체 이해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11137392" y="64556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1/16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>
              <a:alpha val="7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355080"/>
            <a:ext cx="10881360" cy="0"/>
          </a:xfrm>
          <a:prstGeom prst="line">
            <a:avLst/>
          </a:prstGeom>
          <a:noFill/>
          <a:ln w="10160">
            <a:solidFill>
              <a:srgbClr val="334155">
                <a:alpha val="6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한 줄 설명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21792" y="96012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무엇을 할 수 있는지부터 잡고 들어갑니다.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17320"/>
            <a:ext cx="73152" cy="2011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62763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만든 서비스인가?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960120" y="2011680"/>
            <a:ext cx="4800600" cy="12618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축구, 야구, e스포츠 경기 정보를 하나의 웹사이트에서 확인하고 경기 상세 기록, 팀 순위, 팬 참여, AI 분석까지 제공하는 통합 스포츠 분석 웹서비스입니다.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417320"/>
            <a:ext cx="73152" cy="201168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62763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사용자에게 주는 가치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6492240" y="2011680"/>
            <a:ext cx="4800600" cy="12618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사이트를 오가지 않고 경기 일정, 결과, 상세 기록, 순위, 즐겨찾기 팀 정보를 한 흐름에서 확인할 수 있습니다.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914400" y="3886200"/>
            <a:ext cx="1005840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1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경기 확인</a:t>
            </a:r>
            <a:endParaRPr lang="en-US" sz="1150" dirty="0"/>
          </a:p>
          <a:p>
            <a:r>
              <a:rPr lang="en-US" sz="11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종목별 경기 일정 확인</a:t>
            </a:r>
            <a:endParaRPr lang="en-US" sz="1150" dirty="0"/>
          </a:p>
          <a:p>
            <a:r>
              <a:rPr lang="en-US" sz="11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순위와 상세 기록 확인</a:t>
            </a:r>
            <a:endParaRPr lang="en-US" sz="1150" dirty="0"/>
          </a:p>
          <a:p>
            <a:r>
              <a:rPr lang="en-US" sz="11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팬 투표·채팅·AI 분석 확인</a:t>
            </a:r>
            <a:endParaRPr lang="en-US" sz="1150" dirty="0"/>
          </a:p>
          <a:p>
            <a:r>
              <a:rPr lang="en-US" sz="11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데이터 동기화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645566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Sport Analysis Dashboard | 프로젝트 전체 이해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11137392" y="64556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2/16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>
              <a:alpha val="7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355080"/>
            <a:ext cx="10881360" cy="0"/>
          </a:xfrm>
          <a:prstGeom prst="line">
            <a:avLst/>
          </a:prstGeom>
          <a:noFill/>
          <a:ln w="10160">
            <a:solidFill>
              <a:srgbClr val="334155">
                <a:alpha val="6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시스템 구조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21792" y="96012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→ 백엔드 → DB → 프론트엔드 순서로 이해하면 됩니다.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18233F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74650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스포츠 API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2578608" y="176479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71800" y="1600200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111A32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4952" y="174650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4818888" y="176479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212080" y="1600200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18233F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85232" y="174650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DB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7059168" y="176479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52360" y="1600200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111A32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25512" y="174650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화면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9299448" y="176479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92640" y="1600200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18233F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65792" y="174650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731520" y="288036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2880360"/>
            <a:ext cx="73152" cy="1554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0906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960120" y="3474720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MLB Stats API, Cito LCK API, K리그/TheSportsDB 데이터에서 경기 정보를 가져옵니다.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4407408" y="288036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07408" y="2880360"/>
            <a:ext cx="73152" cy="155448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36008" y="30906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4636008" y="3474720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호출, 데이터 가공, DB 저장, 인증, AI 분석 API를 담당합니다.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8092440" y="288036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2880360"/>
            <a:ext cx="73152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30906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8321040" y="3474720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홈, 경기센터, 상세, 스포츠 허브, 관리자 화면을 렌더링합니다.</a:t>
            </a:r>
            <a:endParaRPr lang="en-US" sz="870" dirty="0"/>
          </a:p>
        </p:txBody>
      </p:sp>
      <p:sp>
        <p:nvSpPr>
          <p:cNvPr id="33" name="Text 31"/>
          <p:cNvSpPr/>
          <p:nvPr/>
        </p:nvSpPr>
        <p:spPr>
          <a:xfrm>
            <a:off x="594360" y="645566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Sport Analysis Dashboard | 프로젝트 전체 이해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11137392" y="64556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3/16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>
              <a:alpha val="7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355080"/>
            <a:ext cx="10881360" cy="0"/>
          </a:xfrm>
          <a:prstGeom prst="line">
            <a:avLst/>
          </a:prstGeom>
          <a:noFill/>
          <a:ln w="10160">
            <a:solidFill>
              <a:srgbClr val="334155">
                <a:alpha val="6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React + Spring Boot인가?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21792" y="96012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화면과 API 역할을 분리해서 확장성과 검증 가능성을 확보했습니다.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17320"/>
            <a:ext cx="73152" cy="20574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6276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역할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960120" y="2011680"/>
            <a:ext cx="3017520" cy="1307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구성, 라우팅, 버튼/필터 상태, 로그인 상태별 UI, API 호출을 담당합니다.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4407408" y="141732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07408" y="1417320"/>
            <a:ext cx="73152" cy="205740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16276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역할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4636008" y="2011680"/>
            <a:ext cx="3017520" cy="1307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API, DB 처리, 외부 API 연동, 인증, 관리자 권한, AI 분석 요청을 담당합니다.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8092440" y="141732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141732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6276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트레이드오프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8321040" y="2011680"/>
            <a:ext cx="3017520" cy="1307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CORS와 서버 분리 실행이 필요하지만, 화면 수정과 API 검증이 쉬워졌습니다.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868680" y="416052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 많고 종목별 기능이 달라 프론트 분리가 유리함</a:t>
            </a:r>
            <a:endParaRPr lang="en-US" sz="1100" dirty="0"/>
          </a:p>
          <a:p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백엔드는 데이터 기준과 보안을 담당</a:t>
            </a:r>
            <a:endParaRPr lang="en-US" sz="1100" dirty="0"/>
          </a:p>
          <a:p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프론트는 사용자 경험과 화면 흐름을 담당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645566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Sport Analysis Dashboard | 프로젝트 전체 이해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11137392" y="64556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4/16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>
              <a:alpha val="7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355080"/>
            <a:ext cx="10881360" cy="0"/>
          </a:xfrm>
          <a:prstGeom prst="line">
            <a:avLst/>
          </a:prstGeom>
          <a:noFill/>
          <a:ln w="10160">
            <a:solidFill>
              <a:srgbClr val="334155">
                <a:alpha val="6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데이터 수집 흐름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21792" y="96012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데이터를 그대로 보여주지 않고 우리 서비스 기준으로 가공합니다.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18233F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65506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클릭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2578608" y="16733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71800" y="1508760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111A32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4952" y="165506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API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4818888" y="16733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212080" y="1508760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18233F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85232" y="165506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호출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7059168" y="16733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52360" y="1508760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111A32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25512" y="165506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저장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9299448" y="16733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92640" y="1508760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18233F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65792" y="165506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조회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822960" y="2743200"/>
            <a:ext cx="4983480" cy="1600200"/>
          </a:xfrm>
          <a:prstGeom prst="roundRect">
            <a:avLst>
              <a:gd name="adj" fmla="val 4571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2743200"/>
            <a:ext cx="73152" cy="1600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2953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MLB 일정 가져오기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1051560" y="3337560"/>
            <a:ext cx="4572000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관리자가 동기화 버튼을 누르면 Spring Boot가 MLB Stats API를 호출하고 경기, 팀, 날짜, 점수 데이터를 추출합니다.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6172200" y="2743200"/>
            <a:ext cx="4983480" cy="1600200"/>
          </a:xfrm>
          <a:prstGeom prst="roundRect">
            <a:avLst>
              <a:gd name="adj" fmla="val 4571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2743200"/>
            <a:ext cx="73152" cy="160020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953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DB에 저장하나?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6400800" y="3337560"/>
            <a:ext cx="4572000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응답을 서비스 기준으로 통일하고, 중복 저장을 막고, 경기센터/분석/상세 화면에서 재사용하기 위해서입니다.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594360" y="645566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Sport Analysis Dashboard | 프로젝트 전체 이해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11137392" y="64556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5/16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>
              <a:alpha val="7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355080"/>
            <a:ext cx="10881360" cy="0"/>
          </a:xfrm>
          <a:prstGeom prst="line">
            <a:avLst/>
          </a:prstGeom>
          <a:noFill/>
          <a:ln w="10160">
            <a:solidFill>
              <a:srgbClr val="334155">
                <a:alpha val="6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저장 방식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21792" y="96012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Match를 중심으로 팀, 사용자, 투표, 채팅이 연결되는 구조입니다.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10652760" cy="658368"/>
          </a:xfrm>
          <a:prstGeom prst="roundRect">
            <a:avLst>
              <a:gd name="adj" fmla="val 6944"/>
            </a:avLst>
          </a:prstGeom>
          <a:solidFill>
            <a:srgbClr val="18233F"/>
          </a:solidFill>
          <a:ln w="12700">
            <a:solidFill>
              <a:srgbClr val="334155">
                <a:alpha val="8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002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Match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2971800" y="160020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 ID, 종목, 홈팀, 원정팀, 날짜, 상태, 점수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6995160" y="16002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홈·경기센터·상세·AI 분석의 기준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777240" y="2240280"/>
            <a:ext cx="10652760" cy="658368"/>
          </a:xfrm>
          <a:prstGeom prst="roundRect">
            <a:avLst>
              <a:gd name="adj" fmla="val 6944"/>
            </a:avLst>
          </a:prstGeom>
          <a:solidFill>
            <a:srgbClr val="18233F"/>
          </a:solidFill>
          <a:ln w="12700">
            <a:solidFill>
              <a:srgbClr val="334155">
                <a:alpha val="8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4231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2C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/ League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2971800" y="24231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팀명, 로고, 리그, 종목 정보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6995160" y="2423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 통일과 순위 표시 기준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77240" y="3063240"/>
            <a:ext cx="10652760" cy="658368"/>
          </a:xfrm>
          <a:prstGeom prst="roundRect">
            <a:avLst>
              <a:gd name="adj" fmla="val 6944"/>
            </a:avLst>
          </a:prstGeom>
          <a:solidFill>
            <a:srgbClr val="18233F"/>
          </a:solidFill>
          <a:ln w="12700">
            <a:solidFill>
              <a:srgbClr val="334155">
                <a:alpha val="8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2461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2971800" y="32461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아이디, 비밀번호, 권한, 프로필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6995160" y="32461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로그인과 관리자 권한 기준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7240" y="3886200"/>
            <a:ext cx="10652760" cy="658368"/>
          </a:xfrm>
          <a:prstGeom prst="roundRect">
            <a:avLst>
              <a:gd name="adj" fmla="val 6944"/>
            </a:avLst>
          </a:prstGeom>
          <a:solidFill>
            <a:srgbClr val="18233F"/>
          </a:solidFill>
          <a:ln w="12700">
            <a:solidFill>
              <a:srgbClr val="334155">
                <a:alpha val="8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069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Favorite / Vote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2971800" y="40690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즐겨찾기 팀, 팬 승부 예측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6995160" y="40690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참여 기능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77240" y="4709160"/>
            <a:ext cx="10652760" cy="658368"/>
          </a:xfrm>
          <a:prstGeom prst="roundRect">
            <a:avLst>
              <a:gd name="adj" fmla="val 6944"/>
            </a:avLst>
          </a:prstGeom>
          <a:solidFill>
            <a:srgbClr val="18233F"/>
          </a:solidFill>
          <a:ln w="12700">
            <a:solidFill>
              <a:srgbClr val="334155">
                <a:alpha val="8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43F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 / Analysis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2971800" y="48920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 채팅, AI 분석 결과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6995160" y="4892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화면 부가 기능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594360" y="645566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Sport Analysis Dashboard | 프로젝트 전체 이해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11137392" y="64556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6/16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>
              <a:alpha val="7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355080"/>
            <a:ext cx="10881360" cy="0"/>
          </a:xfrm>
          <a:prstGeom prst="line">
            <a:avLst/>
          </a:prstGeom>
          <a:noFill/>
          <a:ln w="10160">
            <a:solidFill>
              <a:srgbClr val="334155">
                <a:alpha val="6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externalId와 중복 저장 방지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21792" y="96012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API에서 같은 경기를 여러 번 가져와도 같은 경기로 업데이트해야 합니다.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4754880" cy="2103120"/>
          </a:xfrm>
          <a:prstGeom prst="roundRect">
            <a:avLst>
              <a:gd name="adj" fmla="val 3478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417320"/>
            <a:ext cx="73152" cy="2103120"/>
          </a:xfrm>
          <a:prstGeom prst="rect">
            <a:avLst/>
          </a:prstGeom>
          <a:solidFill>
            <a:srgbClr val="F43F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2763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1005840" y="2011680"/>
            <a:ext cx="4343400" cy="13533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동기화는 반복 실행될 수 있습니다. 같은 경기를 매번 새로 저장하면 경기센터에 중복 경기들이 생깁니다.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5897880" y="1417320"/>
            <a:ext cx="4754880" cy="2103120"/>
          </a:xfrm>
          <a:prstGeom prst="roundRect">
            <a:avLst>
              <a:gd name="adj" fmla="val 3478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97880" y="1417320"/>
            <a:ext cx="73152" cy="210312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62763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6126480" y="2011680"/>
            <a:ext cx="4343400" cy="13533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API의 경기 ID를 externalId로 저장하고, 같은 externalId가 있으면 새로 만들지 않고 업데이트합니다.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914400" y="397764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MLB-123456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CITO-987654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SOCCER-2416469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외부 API ID와 우리 DB Match를 연결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645566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Sport Analysis Dashboard | 프로젝트 전체 이해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11137392" y="64556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7/16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>
              <a:alpha val="7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355080"/>
            <a:ext cx="10881360" cy="0"/>
          </a:xfrm>
          <a:prstGeom prst="line">
            <a:avLst/>
          </a:prstGeom>
          <a:noFill/>
          <a:ln w="10160">
            <a:solidFill>
              <a:srgbClr val="334155">
                <a:alpha val="6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사용 방식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21792" y="96012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React는 외부 API를 직접 부르지 않고 Spring Boot API만 호출합니다.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3474720" cy="2194560"/>
          </a:xfrm>
          <a:prstGeom prst="roundRect">
            <a:avLst>
              <a:gd name="adj" fmla="val 3333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17320"/>
            <a:ext cx="73152" cy="2194560"/>
          </a:xfrm>
          <a:prstGeom prst="rect">
            <a:avLst/>
          </a:prstGeom>
          <a:solidFill>
            <a:srgbClr val="F43F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6276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직접 호출하지 않나?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960120" y="2011680"/>
            <a:ext cx="3063240" cy="14447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 노출, CORS, 복잡한 응답 구조, 데이터 기준 불일치 문제가 생길 수 있습니다.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4407408" y="1417320"/>
            <a:ext cx="3474720" cy="2194560"/>
          </a:xfrm>
          <a:prstGeom prst="roundRect">
            <a:avLst>
              <a:gd name="adj" fmla="val 3333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07408" y="1417320"/>
            <a:ext cx="73152" cy="2194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16276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호출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4636008" y="2011680"/>
            <a:ext cx="3063240" cy="14447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 /api/matches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 /api/rankings/{sport}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 /api/lck/cito/today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8092440" y="1417320"/>
            <a:ext cx="3474720" cy="2194560"/>
          </a:xfrm>
          <a:prstGeom prst="roundRect">
            <a:avLst>
              <a:gd name="adj" fmla="val 3333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1417320"/>
            <a:ext cx="73152" cy="219456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6276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호출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8321040" y="2011680"/>
            <a:ext cx="3063240" cy="14447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/api/admin/mlb/sync/schedule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/api/admin/lck/sync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/api/admin/soccer/sync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731520" y="4434840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18233F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458114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2578608" y="459943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971800" y="4434840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111A32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44952" y="458114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API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818888" y="459943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12080" y="4434840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18233F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85232" y="458114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조회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7059168" y="459943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452360" y="4434840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111A32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25512" y="458114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응답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9299448" y="459943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692640" y="4434840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18233F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65792" y="458114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표시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594360" y="645566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Sport Analysis Dashboard | 프로젝트 전체 이해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11137392" y="64556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8/16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>
              <a:alpha val="7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355080"/>
            <a:ext cx="10881360" cy="0"/>
          </a:xfrm>
          <a:prstGeom prst="line">
            <a:avLst/>
          </a:prstGeom>
          <a:noFill/>
          <a:ln w="10160">
            <a:solidFill>
              <a:srgbClr val="334155">
                <a:alpha val="6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홈과 경기센터 작동 방식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21792" y="96012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많이 보이는 화면은 데이터 기준이 정확해야 합니다.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71600"/>
            <a:ext cx="73152" cy="2148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819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960120" y="1965960"/>
            <a:ext cx="4754880" cy="1399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LIVE 상태인 경기만 진행 경기로 표시하고, 예정 경기는 3일 내 경기만 보여줍니다. AI 분석 수는 종료 경기 기준으로 맞췄습니다.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371600"/>
            <a:ext cx="73152" cy="214884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5819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경기센터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6492240" y="1965960"/>
            <a:ext cx="4754880" cy="1399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날짜, 종목, 상태 필터가 React 상태를 바꾸고 /api/matches 요청에 반영되어 조건에 맞는 경기만 표시합니다.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914400" y="4069080"/>
            <a:ext cx="9875520" cy="1051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수정한 문제: LIVE 기준 오류</a:t>
            </a:r>
            <a:endParaRPr lang="en-US" sz="1100" dirty="0"/>
          </a:p>
          <a:p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수정한 문제: 날짜 버튼/필터 오류</a:t>
            </a:r>
            <a:endParaRPr lang="en-US" sz="1100" dirty="0"/>
          </a:p>
          <a:p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수정한 문제: e스포츠만 나오던 문제</a:t>
            </a:r>
            <a:endParaRPr lang="en-US" sz="1100" dirty="0"/>
          </a:p>
          <a:p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수정한 문제: 팀 로고 누락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645566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Sport Analysis Dashboard | 프로젝트 전체 이해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11137392" y="64556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9/16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>
              <a:alpha val="7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355080"/>
            <a:ext cx="10881360" cy="0"/>
          </a:xfrm>
          <a:prstGeom prst="line">
            <a:avLst/>
          </a:prstGeom>
          <a:noFill/>
          <a:ln w="10160">
            <a:solidFill>
              <a:srgbClr val="334155">
                <a:alpha val="6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 상세 화면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21792" y="96012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종목별로 다른 정보를 보여주되, 상세 화면 흐름은 비슷하게 유지했습니다.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25880"/>
            <a:ext cx="73152" cy="3246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36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야구 MLB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3108960" cy="24963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스코어보드, 이닝별 라인스코어, 선발 투수, 핵심 타자 Top 3, 팬 투표, 채팅, AI 분석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4370832" y="132588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0832" y="1325880"/>
            <a:ext cx="73152" cy="324612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536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e스포츠 LCK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4599432" y="1920240"/>
            <a:ext cx="3108960" cy="24963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 경기, 팀 정보, 게임별 통계, 선수 KDA/딜 기여도, AI 경기 요약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8065008" y="132588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5008" y="1325880"/>
            <a:ext cx="73152" cy="324612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3608" y="1536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축구 K리그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8293608" y="1920240"/>
            <a:ext cx="3108960" cy="24963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 정보, 팀 정보, 순위, 경기 상세 분석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594360" y="645566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Sport Analysis Dashboard | 프로젝트 전체 이해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11137392" y="64556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10/16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>
              <a:alpha val="7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355080"/>
            <a:ext cx="10881360" cy="0"/>
          </a:xfrm>
          <a:prstGeom prst="line">
            <a:avLst/>
          </a:prstGeom>
          <a:noFill/>
          <a:ln w="10160">
            <a:solidFill>
              <a:srgbClr val="334155">
                <a:alpha val="6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 작동 방식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21792" y="96012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분석은 승부 예측이 아니라 경기 이해를 돕는 보조 리포트입니다.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18233F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65506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경기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2578608" y="16733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71800" y="1508760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111A32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4952" y="165506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조회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4818888" y="16733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212080" y="1508760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18233F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85232" y="165506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Groq API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7059168" y="16733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52360" y="1508760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111A32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25512" y="165506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생성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9299448" y="16733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92640" y="1508760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18233F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65792" y="165506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표시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822960" y="2743200"/>
            <a:ext cx="4983480" cy="1645920"/>
          </a:xfrm>
          <a:prstGeom prst="roundRect">
            <a:avLst>
              <a:gd name="adj" fmla="val 4444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2743200"/>
            <a:ext cx="73152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2953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종료 경기 중심인가?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1051560" y="3337560"/>
            <a:ext cx="4572000" cy="8961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 경기는 실제 기록이 없기 때문에 신뢰할 수 있는 분석 근거가 부족합니다.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6172200" y="2743200"/>
            <a:ext cx="4983480" cy="1645920"/>
          </a:xfrm>
          <a:prstGeom prst="roundRect">
            <a:avLst>
              <a:gd name="adj" fmla="val 4444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2743200"/>
            <a:ext cx="73152" cy="164592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953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AI 분석을 넣었나?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6400800" y="3337560"/>
            <a:ext cx="4572000" cy="8961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점수보다 경기 흐름, 주요 선수, 전술 포인트를 쉽게 이해하도록 돕기 위해서입니다.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594360" y="645566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Sport Analysis Dashboard | 프로젝트 전체 이해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11137392" y="64556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11/16</a:t>
            </a:r>
            <a:endParaRPr lang="en-US" sz="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>
              <a:alpha val="7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355080"/>
            <a:ext cx="10881360" cy="0"/>
          </a:xfrm>
          <a:prstGeom prst="line">
            <a:avLst/>
          </a:prstGeom>
          <a:noFill/>
          <a:ln w="10160">
            <a:solidFill>
              <a:srgbClr val="334155">
                <a:alpha val="6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인증과 관리자 권한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21792" y="96012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기능과 운영 기능을 분리하기 위해 권한을 나눴습니다.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17320"/>
            <a:ext cx="73152" cy="20574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6276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HttpSession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960120" y="2011680"/>
            <a:ext cx="3017520" cy="1307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성공 시 서버 세션에 사용자 정보를 저장하고 React는 로그인 상태 API로 확인합니다.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4407408" y="141732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07408" y="1417320"/>
            <a:ext cx="73152" cy="205740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16276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권한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4636008" y="2011680"/>
            <a:ext cx="3017520" cy="1307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사용자는 관리자 화면에 접근하지 못하고, 관리자만 데이터 동기화를 실행합니다.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8092440" y="141732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141732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6276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이유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8321040" y="2011680"/>
            <a:ext cx="3017520" cy="1307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JWT보다 확장성은 낮지만 기존 구조와 프로젝트 기간을 고려하면 구현과 검증이 단순했습니다.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914400" y="4251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ProtectedRoute: 로그인 필요 화면 보호</a:t>
            </a:r>
            <a:endParaRPr lang="en-US" sz="1100" dirty="0"/>
          </a:p>
          <a:p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AdminRoute: 관리자 전용 화면 보호</a:t>
            </a:r>
            <a:endParaRPr lang="en-US" sz="1100" dirty="0"/>
          </a:p>
          <a:p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withCredentials: 세션 쿠키 기반 API 호출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645566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Sport Analysis Dashboard | 프로젝트 전체 이해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11137392" y="64556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12/16</a:t>
            </a:r>
            <a:endParaRPr lang="en-US" sz="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>
              <a:alpha val="7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355080"/>
            <a:ext cx="10881360" cy="0"/>
          </a:xfrm>
          <a:prstGeom prst="line">
            <a:avLst/>
          </a:prstGeom>
          <a:noFill/>
          <a:ln w="10160">
            <a:solidFill>
              <a:srgbClr val="334155">
                <a:alpha val="6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기능을 만든 이유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21792" y="96012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기능은 많아 보이지만 각각 사용자 흐름 안에서 역할이 있습니다.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10652760" cy="658368"/>
          </a:xfrm>
          <a:prstGeom prst="roundRect">
            <a:avLst>
              <a:gd name="adj" fmla="val 6944"/>
            </a:avLst>
          </a:prstGeom>
          <a:solidFill>
            <a:srgbClr val="18233F"/>
          </a:solidFill>
          <a:ln w="12700">
            <a:solidFill>
              <a:srgbClr val="334155">
                <a:alpha val="8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508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2971800" y="15087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경기 상태를 빠르게 파악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6995160" y="15087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첫 화면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777240" y="2057400"/>
            <a:ext cx="10652760" cy="658368"/>
          </a:xfrm>
          <a:prstGeom prst="roundRect">
            <a:avLst>
              <a:gd name="adj" fmla="val 6944"/>
            </a:avLst>
          </a:prstGeom>
          <a:solidFill>
            <a:srgbClr val="18233F"/>
          </a:solidFill>
          <a:ln w="12700">
            <a:solidFill>
              <a:srgbClr val="334155">
                <a:alpha val="8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240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2C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경기센터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2971800" y="22402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날짜/종목/상태별 경기 탐색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6995160" y="22402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목록 화면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77240" y="2788920"/>
            <a:ext cx="10652760" cy="658368"/>
          </a:xfrm>
          <a:prstGeom prst="roundRect">
            <a:avLst>
              <a:gd name="adj" fmla="val 6944"/>
            </a:avLst>
          </a:prstGeom>
          <a:solidFill>
            <a:srgbClr val="18233F"/>
          </a:solidFill>
          <a:ln w="12700">
            <a:solidFill>
              <a:srgbClr val="334155">
                <a:alpha val="8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971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2971800" y="297180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스코어보다 깊은 정보 제공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6995160" y="29718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분석과 참여 연결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7240" y="3520440"/>
            <a:ext cx="10652760" cy="658368"/>
          </a:xfrm>
          <a:prstGeom prst="roundRect">
            <a:avLst>
              <a:gd name="adj" fmla="val 6944"/>
            </a:avLst>
          </a:prstGeom>
          <a:solidFill>
            <a:srgbClr val="18233F"/>
          </a:solidFill>
          <a:ln w="12700">
            <a:solidFill>
              <a:srgbClr val="334155">
                <a:alpha val="8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703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2971800" y="37033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 결과 이해 보조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6995160" y="3703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리포트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77240" y="4251960"/>
            <a:ext cx="10652760" cy="658368"/>
          </a:xfrm>
          <a:prstGeom prst="roundRect">
            <a:avLst>
              <a:gd name="adj" fmla="val 6944"/>
            </a:avLst>
          </a:prstGeom>
          <a:solidFill>
            <a:srgbClr val="18233F"/>
          </a:solidFill>
          <a:ln w="12700">
            <a:solidFill>
              <a:srgbClr val="334155">
                <a:alpha val="8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4348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43F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투표/채팅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2971800" y="44348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참여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6995160" y="44348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요소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777240" y="4983480"/>
            <a:ext cx="10652760" cy="658368"/>
          </a:xfrm>
          <a:prstGeom prst="roundRect">
            <a:avLst>
              <a:gd name="adj" fmla="val 6944"/>
            </a:avLst>
          </a:prstGeom>
          <a:solidFill>
            <a:srgbClr val="18233F"/>
          </a:solidFill>
          <a:ln w="12700">
            <a:solidFill>
              <a:srgbClr val="334155">
                <a:alpha val="8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5166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2971800" y="51663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데이터 동기화와 운영 관리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6995160" y="51663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기반 기능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594360" y="645566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Sport Analysis Dashboard | 프로젝트 전체 이해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11137392" y="64556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13/16</a:t>
            </a:r>
            <a:endParaRPr lang="en-US" sz="7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>
              <a:alpha val="7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355080"/>
            <a:ext cx="10881360" cy="0"/>
          </a:xfrm>
          <a:prstGeom prst="line">
            <a:avLst/>
          </a:prstGeom>
          <a:noFill/>
          <a:ln w="10160">
            <a:solidFill>
              <a:srgbClr val="334155">
                <a:alpha val="6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개선할 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21792" y="96012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발표에서 한계를 인정하면 오히려 설계 이해도가 높아 보입니다.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25880"/>
            <a:ext cx="73152" cy="1417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36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3108960" cy="6675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JUnit, React Testing Library, API 통합 테스트 추가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4370832" y="13258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0832" y="1325880"/>
            <a:ext cx="73152" cy="141732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536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4599432" y="1920240"/>
            <a:ext cx="3108960" cy="6675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프론트/백엔드 배포와 운영 환경변수 관리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8065008" y="13258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5008" y="132588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3608" y="1536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실패 대응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8293608" y="1920240"/>
            <a:ext cx="3108960" cy="6675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데이터, 재시도 정책, 관리자 오류 로그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685800" y="31546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15468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364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914400" y="3749040"/>
            <a:ext cx="3108960" cy="6675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화면용 필터 UI와 접근성 색상 대비 개선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4370832" y="31546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70832" y="3154680"/>
            <a:ext cx="73152" cy="1417320"/>
          </a:xfrm>
          <a:prstGeom prst="rect">
            <a:avLst/>
          </a:prstGeom>
          <a:solidFill>
            <a:srgbClr val="F43F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9432" y="3364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신뢰성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4599432" y="3749040"/>
            <a:ext cx="3108960" cy="6675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근거 데이터 표시, 공식 기록 기반 문장 제한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8065008" y="31546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65008" y="3154680"/>
            <a:ext cx="73152" cy="1417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3364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확장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8293608" y="3749040"/>
            <a:ext cx="3108960" cy="6675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종목별 선수/팀 시즌 통계와 비교 대시보드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594360" y="645566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Sport Analysis Dashboard | 프로젝트 전체 이해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11137392" y="64556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14/16</a:t>
            </a:r>
            <a:endParaRPr lang="en-US" sz="7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>
              <a:alpha val="7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355080"/>
            <a:ext cx="10881360" cy="0"/>
          </a:xfrm>
          <a:prstGeom prst="line">
            <a:avLst/>
          </a:prstGeom>
          <a:noFill/>
          <a:ln w="10160">
            <a:solidFill>
              <a:srgbClr val="334155">
                <a:alpha val="6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질문 답변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21792" y="96012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발표에서 가장 자주 나올 질문입니다.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234440"/>
            <a:ext cx="73152" cy="1143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4447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외부 API 데이터는 어떻게 저장되나요?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960120" y="1828800"/>
            <a:ext cx="4937760" cy="393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관리자가 동기화 버튼을 누르면 백엔드가 외부 API를 호출하고 externalId 기준으로 중복 확인 후 DB에 저장하거나 업데이트합니다.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6355080" y="123444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234440"/>
            <a:ext cx="73152" cy="114300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4447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왜 HttpSession인가요?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6583680" y="1828800"/>
            <a:ext cx="4937760" cy="393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기간과 기존 구조를 고려하면 구현과 검증이 단순했습니다. JWT는 향후 확장 과제로 볼 수 있습니다.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731520" y="274320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743200"/>
            <a:ext cx="73152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9535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AI 분석은 예측인가요?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960120" y="3337560"/>
            <a:ext cx="4937760" cy="393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아닙니다. 종료 경기 기록을 바탕으로 경기 흐름을 설명하는 보조 리포트입니다.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6355080" y="274320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2743200"/>
            <a:ext cx="73152" cy="1143000"/>
          </a:xfrm>
          <a:prstGeom prst="rect">
            <a:avLst/>
          </a:prstGeom>
          <a:solidFill>
            <a:srgbClr val="F43F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9535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가장 어려웠던 점은?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6583680" y="3337560"/>
            <a:ext cx="4937760" cy="393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종목마다 다른 LIVE, 날짜, 순위, 로고 기준을 하나의 화면 기준으로 맞추는 것이 어려웠습니다.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594360" y="645566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Sport Analysis Dashboard | 프로젝트 전체 이해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11137392" y="64556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15/16</a:t>
            </a:r>
            <a:endParaRPr lang="en-US" sz="7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>
              <a:alpha val="7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355080"/>
            <a:ext cx="10881360" cy="0"/>
          </a:xfrm>
          <a:prstGeom prst="line">
            <a:avLst/>
          </a:prstGeom>
          <a:noFill/>
          <a:ln w="10160">
            <a:solidFill>
              <a:srgbClr val="334155">
                <a:alpha val="6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9144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3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종목 데이터를 하나의 사용자 흐름으로 통합</a:t>
            </a:r>
            <a:endParaRPr lang="en-US" sz="1300" dirty="0"/>
          </a:p>
          <a:p>
            <a:r>
              <a:rPr lang="en-US" sz="13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React는 화면, Spring Boot는 API/DB/인증/AI 분석 담당</a:t>
            </a:r>
            <a:endParaRPr lang="en-US" sz="1300" dirty="0"/>
          </a:p>
          <a:p>
            <a:r>
              <a:rPr lang="en-US" sz="13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데이터는 백엔드에서 가공 후 Oracle DB에 저장</a:t>
            </a:r>
            <a:endParaRPr lang="en-US" sz="1300" dirty="0"/>
          </a:p>
          <a:p>
            <a:r>
              <a:rPr lang="en-US" sz="13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분석은 승부 예측이 아니라 경기 이해를 위한 보조 리포트</a:t>
            </a:r>
            <a:endParaRPr lang="en-US" sz="1300" dirty="0"/>
          </a:p>
          <a:p>
            <a:r>
              <a:rPr lang="en-US" sz="13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방향은 테스트, 배포, 캐시, 모바일, AI 신뢰성 강화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58200" y="1417320"/>
            <a:ext cx="2926080" cy="3017520"/>
          </a:xfrm>
          <a:prstGeom prst="roundRect">
            <a:avLst>
              <a:gd name="adj" fmla="val 2500"/>
            </a:avLst>
          </a:prstGeom>
          <a:solidFill>
            <a:srgbClr val="111A32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0" y="1417320"/>
            <a:ext cx="73152" cy="301752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0" y="16276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문장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8686800" y="2011680"/>
            <a:ext cx="2514600" cy="22677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프로젝트는 스포츠 데이터를 단순히 모은 것이 아니라, 종목별 데이터 기준을 하나의 웹서비스 경험으로 정리한 프로젝트입니다.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594360" y="645566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Sport Analysis Dashboard | 프로젝트 전체 이해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1137392" y="64556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16/16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 Analysis Dashboard 전체 이해 발표자료</dc:title>
  <dc:subject>프로젝트 전체 이해 발표자료</dc:subject>
  <dc:creator>Sport Analysis Dashboard Team</dc:creator>
  <cp:lastModifiedBy>Sport Analysis Dashboard Team</cp:lastModifiedBy>
  <cp:revision>1</cp:revision>
  <dcterms:created xsi:type="dcterms:W3CDTF">2026-06-02T03:36:51Z</dcterms:created>
  <dcterms:modified xsi:type="dcterms:W3CDTF">2026-06-02T03:36:51Z</dcterms:modified>
</cp:coreProperties>
</file>